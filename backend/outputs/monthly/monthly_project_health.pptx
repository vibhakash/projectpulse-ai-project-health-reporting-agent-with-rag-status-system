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PROJECT PORTFOLIO HEALTH SYNTHESIS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  <a:latin typeface="Arial"/>
              </a:defRPr>
            </a:pPr>
            <a:r>
              <a:t>Monthly Executive Performance Review &amp; Automated RAG Analysis</a:t>
            </a:r>
          </a:p>
          <a:p>
            <a:pPr>
              <a:spcBef>
                <a:spcPts val="1600"/>
              </a:spcBef>
              <a:defRPr sz="1100">
                <a:solidFill>
                  <a:srgbClr val="6366F1"/>
                </a:solidFill>
                <a:latin typeface="Arial"/>
              </a:defRPr>
            </a:pPr>
            <a:r>
              <a:t>Generated by Project Health AI Agent | Date: 2026-08-11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291840"/>
            <a:ext cx="33832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ON TRACK / GREEN</a:t>
            </a:r>
          </a:p>
          <a:p>
            <a:pPr>
              <a:spcBef>
                <a:spcPts val="400"/>
              </a:spcBef>
              <a:defRPr sz="4400" b="1">
                <a:solidFill>
                  <a:srgbClr val="0F172A"/>
                </a:solidFill>
                <a:latin typeface="Arial"/>
              </a:defRPr>
            </a:pPr>
            <a:r>
              <a:t>1</a:t>
            </a:r>
          </a:p>
          <a:p>
            <a:pPr>
              <a:spcBef>
                <a:spcPts val="1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Projects executing smoothly against baseline schedule and budget expectations.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3291840"/>
            <a:ext cx="33832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UNDER WATCH / AMBER</a:t>
            </a:r>
          </a:p>
          <a:p>
            <a:pPr>
              <a:spcBef>
                <a:spcPts val="400"/>
              </a:spcBef>
              <a:defRPr sz="4400" b="1">
                <a:solidFill>
                  <a:srgbClr val="0F172A"/>
                </a:solidFill>
                <a:latin typeface="Arial"/>
              </a:defRPr>
            </a:pPr>
            <a:r>
              <a:t>0</a:t>
            </a:r>
          </a:p>
          <a:p>
            <a:pPr>
              <a:spcBef>
                <a:spcPts val="1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Projects exhibiting minor delays, progress gaps, or warning indicators.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3291840"/>
            <a:ext cx="338328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000" b="1">
                <a:solidFill>
                  <a:srgbClr val="EF4444"/>
                </a:solidFill>
                <a:latin typeface="Arial"/>
              </a:defRPr>
            </a:pPr>
            <a:r>
              <a:t>CRITICAL ESCALATE / RED</a:t>
            </a:r>
          </a:p>
          <a:p>
            <a:pPr>
              <a:spcBef>
                <a:spcPts val="400"/>
              </a:spcBef>
              <a:defRPr sz="4400" b="1">
                <a:solidFill>
                  <a:srgbClr val="0F172A"/>
                </a:solidFill>
                <a:latin typeface="Arial"/>
              </a:defRPr>
            </a:pPr>
            <a:r>
              <a:t>2</a:t>
            </a:r>
          </a:p>
          <a:p>
            <a:pPr>
              <a:spcBef>
                <a:spcPts val="1200"/>
              </a:spcBef>
              <a:defRPr sz="1050">
                <a:solidFill>
                  <a:srgbClr val="475569"/>
                </a:solidFill>
                <a:latin typeface="Arial"/>
              </a:defRPr>
            </a:pPr>
            <a:r>
              <a:t>Projects with significant delays, blocked milestones, or high risk items.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Zycus Project Health reporting agent |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71632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Arial"/>
              </a:defRPr>
            </a:pPr>
            <a:r>
              <a:t>PORTFOLIO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Portfolio Health Directory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Consolidated view of active project stages, scores, and data confidence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831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097280"/>
                <a:gridCol w="1280160"/>
                <a:gridCol w="3291840"/>
                <a:gridCol w="1581912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RAG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RAG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Quality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Manager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 Platform Migration Project (Project_Alpha_Week3)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83.1/100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 Platform Migration Project (Project_Alpha_Week2)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4444"/>
                          </a:solidFill>
                          <a:latin typeface="Arial"/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71.1/100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1.0 Platform Migration Project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Green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26.2/100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Zycus Project Health reporting agent |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1632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Arial"/>
              </a:defRPr>
            </a:pPr>
            <a:r>
              <a:t>PORTFOLIO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Portfolio Narrative &amp; Sentiment Summary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Consolidated AI summaries and stakeholder sentiment comments across all projects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PORTFOLIO EXECUTIVE NARRATIVES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EF4444"/>
                </a:solidFill>
                <a:latin typeface="Arial"/>
              </a:rPr>
              <a:t>• 1.0 Platform Migration Project (Project_Alpha_Week3) (Red): </a:t>
            </a:r>
            <a:r>
              <a:rPr sz="1000">
                <a:solidFill>
                  <a:srgbClr val="0F172A"/>
                </a:solidFill>
                <a:latin typeface="Arial"/>
              </a:rPr>
              <a:t>The project's RAG status is Red, primarily due to 5 red and 0 amber/yellow schedule-health rows (source_row numbers 2, 4, 5, 6, 7), indicating significant sched...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EF4444"/>
                </a:solidFill>
                <a:latin typeface="Arial"/>
              </a:rPr>
              <a:t>• 1.0 Platform Migration Project (Project_Alpha_Week2) (Red): </a:t>
            </a:r>
            <a:r>
              <a:rPr sz="1000">
                <a:solidFill>
                  <a:srgbClr val="0F172A"/>
                </a:solidFill>
                <a:latin typeface="Arial"/>
              </a:rPr>
              <a:t>The project's RAG status is Red, primarily due to schedule health issues (source_row 2, 4, 5) and a progress gap of 13.1 points behind the expected timeline. Th...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  <a:latin typeface="Arial"/>
              </a:rPr>
              <a:t>• 1.0 Platform Migration Project (Green): </a:t>
            </a:r>
            <a:r>
              <a:rPr sz="1000">
                <a:solidFill>
                  <a:srgbClr val="0F172A"/>
                </a:solidFill>
                <a:latin typeface="Arial"/>
              </a:rPr>
              <a:t>The project's RAG status is Green, with a score of 26.2 and high confidence, as seen in the deterministic_rag section (source_row not applicable). The top signa...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23444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STAKEHOLDER SENTIMENT &amp; THEMES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F4444"/>
                </a:solidFill>
                <a:latin typeface="Arial"/>
              </a:rPr>
              <a:t>• 1.0 Platform Migration Project (Project_Alpha_Week3): </a:t>
            </a:r>
            <a:r>
              <a:rPr sz="1000">
                <a:solidFill>
                  <a:srgbClr val="475569"/>
                </a:solidFill>
                <a:latin typeface="Arial"/>
              </a:rPr>
              <a:t>No comments available</a:t>
            </a:r>
          </a:p>
          <a:p>
            <a:pPr>
              <a:spcAft>
                <a:spcPts val="600"/>
              </a:spcAft>
            </a:pPr>
            <a:r>
              <a:rPr i="1" sz="950">
                <a:solidFill>
                  <a:srgbClr val="6366F1"/>
                </a:solidFill>
                <a:latin typeface="Arial"/>
              </a:rPr>
              <a:t>  Key Risk Themes: Schedule Risks, Blocker Risks, Progress Delays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EF4444"/>
                </a:solidFill>
                <a:latin typeface="Arial"/>
              </a:rPr>
              <a:t>• 1.0 Platform Migration Project (Project_Alpha_Week2): </a:t>
            </a:r>
            <a:r>
              <a:rPr sz="1000">
                <a:solidFill>
                  <a:srgbClr val="475569"/>
                </a:solidFill>
                <a:latin typeface="Arial"/>
              </a:rPr>
              <a:t>No comments available.</a:t>
            </a:r>
          </a:p>
          <a:p>
            <a:pPr>
              <a:spcAft>
                <a:spcPts val="600"/>
              </a:spcAft>
            </a:pPr>
            <a:r>
              <a:rPr i="1" sz="950">
                <a:solidFill>
                  <a:srgbClr val="6366F1"/>
                </a:solidFill>
                <a:latin typeface="Arial"/>
              </a:rPr>
              <a:t>  Key Risk Themes: Schedule Delays, Blocker Tasks, Progress Gap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10B981"/>
                </a:solidFill>
                <a:latin typeface="Arial"/>
              </a:rPr>
              <a:t>• 1.0 Platform Migration Project: </a:t>
            </a:r>
            <a:r>
              <a:rPr sz="1000">
                <a:solidFill>
                  <a:srgbClr val="475569"/>
                </a:solidFill>
                <a:latin typeface="Arial"/>
              </a:rPr>
              <a:t>No comments available</a:t>
            </a:r>
          </a:p>
          <a:p>
            <a:pPr>
              <a:spcAft>
                <a:spcPts val="600"/>
              </a:spcAft>
            </a:pPr>
            <a:r>
              <a:rPr i="1" sz="950">
                <a:solidFill>
                  <a:srgbClr val="6366F1"/>
                </a:solidFill>
                <a:latin typeface="Arial"/>
              </a:rPr>
              <a:t>  Key Risk Themes: Schedule Delays, Progress Gaps, Lack of Milestone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Zycus Project Health reporting agent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Arial"/>
              </a:defRPr>
            </a:pPr>
            <a:r>
              <a:t>PORTFOLIO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Emerging Systemic Risks &amp; Signal Analysis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Critical task slippages and cross-project signal alert distributions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TOP DELIVERY RISKS &amp; CRITICAL TASK EVIDENCE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EF4444"/>
                </a:solidFill>
                <a:latin typeface="Arial"/>
              </a:rPr>
              <a:t>• 1.0 Platform Migration Project (Project_Alpha_Week3) (Row 2): </a:t>
            </a:r>
            <a:r>
              <a:rPr b="1" sz="950">
                <a:solidFill>
                  <a:srgbClr val="0F172A"/>
                </a:solidFill>
                <a:latin typeface="Arial"/>
              </a:rPr>
              <a:t>1.0 Platform Migration Project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Arial"/>
              </a:defRPr>
            </a:pPr>
            <a:r>
              <a:t>  Status: In Progress | Health: Red | Float: -20.0d | Comp: 60.0%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EF4444"/>
                </a:solidFill>
                <a:latin typeface="Arial"/>
              </a:rPr>
              <a:t>• 1.0 Platform Migration Project (Project_Alpha_Week3) (Row 6): </a:t>
            </a:r>
            <a:r>
              <a:rPr b="1" sz="950">
                <a:solidFill>
                  <a:srgbClr val="0F172A"/>
                </a:solidFill>
                <a:latin typeface="Arial"/>
              </a:rPr>
              <a:t>1.4 Integration Testing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Arial"/>
              </a:defRPr>
            </a:pPr>
            <a:r>
              <a:t>  Status: Not Started | Health: Red | Float: -20.0d | Comp: 0%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EF4444"/>
                </a:solidFill>
                <a:latin typeface="Arial"/>
              </a:rPr>
              <a:t>• 1.0 Platform Migration Project (Project_Alpha_Week3) (Row 7): </a:t>
            </a:r>
            <a:r>
              <a:rPr b="1" sz="950">
                <a:solidFill>
                  <a:srgbClr val="0F172A"/>
                </a:solidFill>
                <a:latin typeface="Arial"/>
              </a:rPr>
              <a:t>MILESTONE: Design Sign-off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Arial"/>
              </a:defRPr>
            </a:pPr>
            <a:r>
              <a:t>  Status: Missed | Health: Red | Float: -20.0d | Comp: 0%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EF4444"/>
                </a:solidFill>
                <a:latin typeface="Arial"/>
              </a:rPr>
              <a:t>• 1.0 Platform Migration Project (Project_Alpha_Week3) (Row 5): </a:t>
            </a:r>
            <a:r>
              <a:rPr b="1" sz="950">
                <a:solidFill>
                  <a:srgbClr val="0F172A"/>
                </a:solidFill>
                <a:latin typeface="Arial"/>
              </a:rPr>
              <a:t>1.3 Dev Environment Setup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Arial"/>
              </a:defRPr>
            </a:pPr>
            <a:r>
              <a:t>  Status: On Hold | Health: Red | Float: -18.0d | Comp: 0%</a:t>
            </a:r>
          </a:p>
          <a:p>
            <a:pPr>
              <a:spcAft>
                <a:spcPts val="800"/>
              </a:spcAft>
            </a:pPr>
            <a:r>
              <a:rPr b="1" sz="950">
                <a:solidFill>
                  <a:srgbClr val="EF4444"/>
                </a:solidFill>
                <a:latin typeface="Arial"/>
              </a:rPr>
              <a:t>• 1.0 Platform Migration Project (Project_Alpha_Week3) (Row 4): </a:t>
            </a:r>
            <a:r>
              <a:rPr b="1" sz="950">
                <a:solidFill>
                  <a:srgbClr val="0F172A"/>
                </a:solidFill>
                <a:latin typeface="Arial"/>
              </a:rPr>
              <a:t>1.2 Architecture Design</a:t>
            </a:r>
          </a:p>
          <a:p>
            <a:pPr>
              <a:spcAft>
                <a:spcPts val="400"/>
              </a:spcAft>
              <a:defRPr sz="900">
                <a:solidFill>
                  <a:srgbClr val="475569"/>
                </a:solidFill>
                <a:latin typeface="Arial"/>
              </a:defRPr>
            </a:pPr>
            <a:r>
              <a:t>  Status: In Progress | Health: Red | Float: -15.0d | Comp: 70.0%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23444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ELEVATED SIGNAL &amp; FLIP ALERTS</a:t>
            </a:r>
          </a:p>
          <a:p>
            <a:pPr>
              <a:spcAft>
                <a:spcPts val="6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• No recent RAG status flips detected.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000" b="1">
                <a:solidFill>
                  <a:srgbClr val="0F172A"/>
                </a:solidFill>
                <a:latin typeface="Arial"/>
              </a:defRPr>
            </a:pPr>
            <a:r>
              <a:t>PORTFOLIO SIGNAL ALERT FREQUENCY: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  <a:latin typeface="Arial"/>
              </a:rPr>
              <a:t>• schedule: </a:t>
            </a:r>
            <a:r>
              <a:rPr sz="950">
                <a:solidFill>
                  <a:srgbClr val="475569"/>
                </a:solidFill>
                <a:latin typeface="Arial"/>
              </a:rPr>
              <a:t>Elevated in 1 project(s)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Zycus Project Health reporting agent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Arial"/>
              </a:defRPr>
            </a:pPr>
            <a:r>
              <a:t>PORTFOLIO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Recommended Leadership &amp; Escalation Actions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Immediate interventions for at-risk projects and general portfolio quality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IMMEDIATE PROJECT ESCALATIONS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EF4444"/>
                </a:solidFill>
                <a:latin typeface="Arial"/>
              </a:rPr>
              <a:t>• 1.0 Platform Migration Project (Project_Alpha_Week3) (Red): </a:t>
            </a:r>
            <a:r>
              <a:rPr sz="1000">
                <a:solidFill>
                  <a:srgbClr val="0F172A"/>
                </a:solidFill>
                <a:latin typeface="Arial"/>
              </a:rPr>
              <a:t>Run a schedule recovery review focused on red/yellow rows and near-term milestones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EF4444"/>
                </a:solidFill>
                <a:latin typeface="Arial"/>
              </a:rPr>
              <a:t>• 1.0 Platform Migration Project (Project_Alpha_Week3) (Red): </a:t>
            </a:r>
            <a:r>
              <a:rPr sz="1000">
                <a:solidFill>
                  <a:srgbClr val="0F172A"/>
                </a:solidFill>
                <a:latin typeface="Arial"/>
              </a:rPr>
              <a:t>Create an escalation list for critical-path, pending, and dependency-driven blockers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EF4444"/>
                </a:solidFill>
                <a:latin typeface="Arial"/>
              </a:rPr>
              <a:t>• 1.0 Platform Migration Project (Project_Alpha_Week3) (Red): </a:t>
            </a:r>
            <a:r>
              <a:rPr sz="1000">
                <a:solidFill>
                  <a:srgbClr val="0F172A"/>
                </a:solidFill>
                <a:latin typeface="Arial"/>
              </a:rPr>
              <a:t>Develop a plan to address the 6.1 point progress gap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EF4444"/>
                </a:solidFill>
                <a:latin typeface="Arial"/>
              </a:rPr>
              <a:t>• 1.0 Platform Migration Project (Project_Alpha_Week3) (Red): </a:t>
            </a:r>
            <a:r>
              <a:rPr sz="1000">
                <a:solidFill>
                  <a:srgbClr val="0F172A"/>
                </a:solidFill>
                <a:latin typeface="Arial"/>
              </a:rPr>
              <a:t>Identify and mitigate risks associated with critical path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23444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GENERAL PORTFOLIO GOVERNANCE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6366F1"/>
                </a:solidFill>
                <a:latin typeface="Arial"/>
              </a:rPr>
              <a:t>• </a:t>
            </a:r>
            <a:r>
              <a:t/>
            </a:r>
            <a:r>
              <a:rPr b="1" sz="1000">
                <a:solidFill>
                  <a:srgbClr val="0F172A"/>
                </a:solidFill>
                <a:latin typeface="Arial"/>
              </a:rPr>
              <a:t>Enforce Weekly Baseline Syncs: </a:t>
            </a:r>
            <a:r>
              <a:rPr sz="1000">
                <a:solidFill>
                  <a:srgbClr val="475569"/>
                </a:solidFill>
                <a:latin typeface="Arial"/>
              </a:rPr>
              <a:t>Ensure all project managers update schedule baselines weekly to maintain high-quality tracking metrics.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6366F1"/>
                </a:solidFill>
                <a:latin typeface="Arial"/>
              </a:rPr>
              <a:t>• </a:t>
            </a:r>
            <a:r>
              <a:t/>
            </a:r>
            <a:r>
              <a:rPr b="1" sz="1000">
                <a:solidFill>
                  <a:srgbClr val="0F172A"/>
                </a:solidFill>
                <a:latin typeface="Arial"/>
              </a:rPr>
              <a:t>Address Critical Negative Float: </a:t>
            </a:r>
            <a:r>
              <a:rPr sz="1000">
                <a:solidFill>
                  <a:srgbClr val="475569"/>
                </a:solidFill>
                <a:latin typeface="Arial"/>
              </a:rPr>
              <a:t>Conduct dedicated review sessions for tasks exhibiting negative float to resolve blockers before milestone slips occur.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6366F1"/>
                </a:solidFill>
                <a:latin typeface="Arial"/>
              </a:rPr>
              <a:t>• </a:t>
            </a:r>
            <a:r>
              <a:t/>
            </a:r>
            <a:r>
              <a:rPr b="1" sz="1000">
                <a:solidFill>
                  <a:srgbClr val="0F172A"/>
                </a:solidFill>
                <a:latin typeface="Arial"/>
              </a:rPr>
              <a:t>Refine Commenting Standard: </a:t>
            </a:r>
            <a:r>
              <a:rPr sz="1000">
                <a:solidFill>
                  <a:srgbClr val="475569"/>
                </a:solidFill>
                <a:latin typeface="Arial"/>
              </a:rPr>
              <a:t>Ensure PM comment updates describe concrete mitigation steps rather than status summaries to keep sentiment scores clear.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6366F1"/>
                </a:solidFill>
                <a:latin typeface="Arial"/>
              </a:rPr>
              <a:t>• </a:t>
            </a:r>
            <a:r>
              <a:t/>
            </a:r>
            <a:r>
              <a:rPr b="1" sz="1000">
                <a:solidFill>
                  <a:srgbClr val="0F172A"/>
                </a:solidFill>
                <a:latin typeface="Arial"/>
              </a:rPr>
              <a:t>Verify Workbook Data Quality: </a:t>
            </a:r>
            <a:r>
              <a:rPr sz="1000">
                <a:solidFill>
                  <a:srgbClr val="475569"/>
                </a:solidFill>
                <a:latin typeface="Arial"/>
              </a:rPr>
              <a:t>Fix missing ownership and baseline dates inside source spreadsheets to increase data quality confidence scores.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6366F1"/>
                </a:solidFill>
                <a:latin typeface="Arial"/>
              </a:rPr>
              <a:t>• </a:t>
            </a:r>
            <a:r>
              <a:t/>
            </a:r>
            <a:r>
              <a:rPr b="1" sz="1000">
                <a:solidFill>
                  <a:srgbClr val="0F172A"/>
                </a:solidFill>
                <a:latin typeface="Arial"/>
              </a:rPr>
              <a:t>Establish Trend Milestones: </a:t>
            </a:r>
            <a:r>
              <a:rPr sz="1000">
                <a:solidFill>
                  <a:srgbClr val="475569"/>
                </a:solidFill>
                <a:latin typeface="Arial"/>
              </a:rPr>
              <a:t>Leverage SQLite time-series data to compare current month trends against baseline trajectory projections.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Zycus Project Health reporting agent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366F1"/>
                </a:solidFill>
                <a:latin typeface="Arial"/>
              </a:defRPr>
            </a:pPr>
            <a:r>
              <a:t>HOW PROJECT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How Project Works: RAG Engine &amp; Problem-Solving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Arial"/>
              </a:defRPr>
            </a:pPr>
            <a:r>
              <a:t>Standard RAG signal weights, automatic normalization, and decision auditability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DETERMINISTIC RAG LOGIC MODEL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Schedule Health (30%): </a:t>
            </a:r>
            <a:r>
              <a:rPr sz="950">
                <a:solidFill>
                  <a:srgbClr val="475569"/>
                </a:solidFill>
                <a:latin typeface="Arial"/>
              </a:rPr>
              <a:t>Evaluates task delays, late critical paths, float erosion.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Progress Gap (20%): </a:t>
            </a:r>
            <a:r>
              <a:rPr sz="950">
                <a:solidFill>
                  <a:srgbClr val="475569"/>
                </a:solidFill>
                <a:latin typeface="Arial"/>
              </a:rPr>
              <a:t>Compares actual % complete vs expected progress by date.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Milestones Confidence (20%): </a:t>
            </a:r>
            <a:r>
              <a:rPr sz="950">
                <a:solidFill>
                  <a:srgbClr val="475569"/>
                </a:solidFill>
                <a:latin typeface="Arial"/>
              </a:rPr>
              <a:t>Measures completed vs delayed key milestones.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Blocker Keywords (15%): </a:t>
            </a:r>
            <a:r>
              <a:rPr sz="950">
                <a:solidFill>
                  <a:srgbClr val="475569"/>
                </a:solidFill>
                <a:latin typeface="Arial"/>
              </a:rPr>
              <a:t>Scans task names and status comments for blocker keywords.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Stakeholder Sentiment (10%): </a:t>
            </a:r>
            <a:r>
              <a:rPr sz="950">
                <a:solidFill>
                  <a:srgbClr val="475569"/>
                </a:solidFill>
                <a:latin typeface="Arial"/>
              </a:rPr>
              <a:t>NLP-analyzed tone and outlook of weekly PM comments.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Budget Variance (5%): </a:t>
            </a:r>
            <a:r>
              <a:rPr sz="950">
                <a:solidFill>
                  <a:srgbClr val="475569"/>
                </a:solidFill>
                <a:latin typeface="Arial"/>
              </a:rPr>
              <a:t>Burn rates and cost variance (omitted if data is absent).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050">
                <a:solidFill>
                  <a:srgbClr val="EF4444"/>
                </a:solidFill>
                <a:latin typeface="Arial"/>
              </a:rPr>
              <a:t>Critical Override Rules:</a:t>
            </a:r>
          </a:p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If any critical task has a Red schedule health and is either root-level or at-risk level is High, the overall project status is forced to Red regardless of other signals. Ensures major threats are never hidden.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234440"/>
            <a:ext cx="539496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6366F1"/>
                </a:solidFill>
                <a:latin typeface="Arial"/>
              </a:defRPr>
            </a:pPr>
            <a:r>
              <a:t>EFFICIENCY &amp; PROBLEM-SOLVING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Eliminating Reporting Bias: </a:t>
            </a:r>
            <a:r>
              <a:rPr sz="950">
                <a:solidFill>
                  <a:srgbClr val="475569"/>
                </a:solidFill>
                <a:latin typeface="Arial"/>
              </a:rPr>
              <a:t>Replaces subjective/manual project health reporting with automated, uniform, data-driven evaluation.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Automatic Data Normalization: </a:t>
            </a:r>
            <a:r>
              <a:rPr sz="950">
                <a:solidFill>
                  <a:srgbClr val="475569"/>
                </a:solidFill>
                <a:latin typeface="Arial"/>
              </a:rPr>
              <a:t>Cleans and parses diverse Excel formats. Automatically infers active project stages from task hierarchies and dates.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Uncompromised Auditability: </a:t>
            </a:r>
            <a:r>
              <a:rPr sz="950">
                <a:solidFill>
                  <a:srgbClr val="475569"/>
                </a:solidFill>
                <a:latin typeface="Arial"/>
              </a:rPr>
              <a:t>Every AI narrative and signal cites precise Excel row numbers, allowing stakeholders to trace results directly back to the sheet.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Resilient Fallbacks: </a:t>
            </a:r>
            <a:r>
              <a:rPr sz="950">
                <a:solidFill>
                  <a:srgbClr val="475569"/>
                </a:solidFill>
                <a:latin typeface="Arial"/>
              </a:rPr>
              <a:t>Missing baseline dates default to current dates; missing comments default to a neutral sentiment score, ensuring the pipeline never fails.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6366F1"/>
                </a:solidFill>
                <a:latin typeface="Arial"/>
              </a:rPr>
              <a:t>• </a:t>
            </a:r>
            <a:r>
              <a:rPr b="1" sz="950">
                <a:solidFill>
                  <a:srgbClr val="0F172A"/>
                </a:solidFill>
                <a:latin typeface="Arial"/>
              </a:rPr>
              <a:t>Historical Persistence: </a:t>
            </a:r>
            <a:r>
              <a:rPr sz="950">
                <a:solidFill>
                  <a:srgbClr val="475569"/>
                </a:solidFill>
                <a:latin typeface="Arial"/>
              </a:rPr>
              <a:t>Stores all weekly runs in a unified SQLite database, enabling trend analytics and automated RAG flip alerts.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Arial"/>
              </a:defRPr>
            </a:pPr>
            <a:r>
              <a:t>Zycus Project Health reporting agent |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  <a:latin typeface="Arial"/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